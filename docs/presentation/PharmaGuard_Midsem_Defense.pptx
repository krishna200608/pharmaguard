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Dr. Arya and evaluation committee. </a:t>
            </a:r>
          </a:p>
          <a:p>
            <a:r>
              <a:t>I am Krishna Sikheriya, presenting on behalf of our capstone team with Lokesh Bawariya and Naitik Jain.</a:t>
            </a:r>
          </a:p>
          <a:p>
            <a:r>
              <a:t>Today we present PharmaGuard: an intelligent pharmacovigilance signal triage orchestrator designed to solve an acute bottleneck in postmarketing drug safety.</a:t>
            </a:r>
          </a:p>
          <a:p>
            <a:r>
              <a:t>Our focus is replacing ungrounded LLM hallucinations with deterministic multi-source biomedical evidence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Millions of spontaneous adverse event reports flood databases like FDA FAERS every year. </a:t>
            </a:r>
          </a:p>
          <a:p>
            <a:r>
              <a:t>When safety teams attempt to use foundation models to triage these reports, LLMs fail in three distinct ways:</a:t>
            </a:r>
          </a:p>
          <a:p>
            <a:r>
              <a:t>1. They hallucinate high confidence without empirical data.</a:t>
            </a:r>
          </a:p>
          <a:p>
            <a:r>
              <a:t>2. They confuse historical investigations with confirmed adverse reactions.</a:t>
            </a:r>
          </a:p>
          <a:p>
            <a:r>
              <a:t>3. They leak memorized regulatory actions instead of performing objective clinical reasoning.</a:t>
            </a:r>
          </a:p>
          <a:p>
            <a:r>
              <a:t>PharmaGuard was built to solve these three failure modes systematically.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position PharmaGuard in the academic literature, we examine two foundational base papers and five related clinical agent works:</a:t>
            </a:r>
          </a:p>
          <a:p>
            <a:r>
              <a:t>1. ReAct (Yao et al., ICLR 2023) established the tool-use paradigm we build upon. But ReAct lacks domain-specific evidence weighting and deterministic safety gates.</a:t>
            </a:r>
          </a:p>
          <a:p>
            <a:r>
              <a:t>2. PSEBench (2026) is our closest empirical analog in safety triage, but it focuses on hospital incident reports. PharmaGuard is the first benchmarked multi-source system designed specifically for drug pharmacovigilance.</a:t>
            </a:r>
          </a:p>
          <a:p>
            <a:r>
              <a:t>3. Omar et al. (Communications Medicine 2025) proved LLMs hallucinate on false details in up to 83% of clinical decision cases—providing the empirical justification for our deterministic scoring.</a:t>
            </a:r>
          </a:p>
          <a:p>
            <a:r>
              <a:t>4. Venugopal (2026) theorized agentic AI in pharmacovigilance; PharmaGuard represents an open-source, evaluated instantiation.</a:t>
            </a:r>
          </a:p>
          <a:p>
            <a:r>
              <a:t>5. In contrast to complex multi-agent frameworks like MDAgents and TeamMedAgents, PharmaGuard employs a streamlined single-agent pipeline with deterministic scoring to guarantee auditability in regulatory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PharmaGuard's core architecture.</a:t>
            </a:r>
          </a:p>
          <a:p>
            <a:r>
              <a:t>We fuse three orthogonal streams:</a:t>
            </a:r>
          </a:p>
          <a:p>
            <a:r>
              <a:t>1. openFDA FAERS disproportionality with Woolf 95% confidence bounds.</a:t>
            </a:r>
          </a:p>
          <a:p>
            <a:r>
              <a:t>2. ChEMBL target mechanism of action for biological plausibility.</a:t>
            </a:r>
          </a:p>
          <a:p>
            <a:r>
              <a:t>3. PubMed literature retrieval, graded against a versioned clinical rubric (Grade A/B/C) to replace earlier brittle keyword matching.</a:t>
            </a:r>
          </a:p>
          <a:p>
            <a:r>
              <a:t>These weights feed into our deterministic composite confidence formula.</a:t>
            </a:r>
          </a:p>
          <a:p>
            <a:r>
              <a:t>Crucially, if FAERS shows NO_SIGNAL, our Hard Safety Gate immediately forces DO_NOT_ESCALATE.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evaluate PharmaGuard, we curated a 15-pair benchmark across 3 clinical cohorts: 7 confirmed positives, 5 negative controls, and 3 zero-report controls.</a:t>
            </a:r>
          </a:p>
          <a:p>
            <a:r>
              <a:t>Every metric is reported with exact Wilson Score 95% confidence intervals alongside non-parametric bootstrap resampling (B=1000, seed=42) to ensure academic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headline finding: PharmaGuard achieves 1.000 Strict Precision and cuts the Over-Caution Rate in half (12.5% vs 25.0%).</a:t>
            </a:r>
          </a:p>
          <a:p>
            <a:r>
              <a:t>Why does 6/7 beat 15/15? Because the baseline's 'perfect' recall is an illusion caused by over-escalating clean negatives like Liraglutide. PharmaGuard demonstrates genuine clinical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a single metric in clinical AI is dangerous.</a:t>
            </a:r>
          </a:p>
          <a:p>
            <a:r>
              <a:t>We evaluate under both Strict and Lenient regimes.</a:t>
            </a:r>
          </a:p>
          <a:p>
            <a:r>
              <a:t>Strict evaluation tests whether the system demands both epidemiological and biological evidence before escalating.</a:t>
            </a:r>
          </a:p>
          <a:p>
            <a:r>
              <a:t>Lenient evaluation tests clinical safety: did any potential harm escape surveillance? Our Lenient Recall is 1.000 (7/7).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us examine our first disagreement: Montelukast and Suicidal Ideation.</a:t>
            </a:r>
          </a:p>
          <a:p>
            <a:r>
              <a:t>The FDA issued a Boxed Warning in 2020. However, ChEMBL target data reveals leukotriene CysLT1 receptors are peripheral, with no established CNS penetration mechanism.</a:t>
            </a:r>
          </a:p>
          <a:p>
            <a:r>
              <a:t>Because plausibility is LOW, composite confidence lands at 0.664—just below the 0.70 escalation threshold.</a:t>
            </a:r>
          </a:p>
          <a:p>
            <a:r>
              <a:t>PharmaGuard routes this to MONITOR: ensuring safety surveillance while maintaining mechanistic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second disagreement is Metformin and Hypoglycaemia.</a:t>
            </a:r>
          </a:p>
          <a:p>
            <a:r>
              <a:t>Biologically, Metformin monotherapy does not cause hypoglycaemia. But in FAERS, over 9,340 reports exist due to co-prescription with insulin.</a:t>
            </a:r>
          </a:p>
          <a:p>
            <a:r>
              <a:t>PharmaGuard's 0.40 FAERS weight establishes a 0.400 confidence floor, routing this to MONITOR.</a:t>
            </a:r>
          </a:p>
          <a:p>
            <a:r>
              <a:t>This is safety-first triage: discounting the confounded signal without silently ignoring 9,000 patient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shows our most compelling concrete proof: Liraglutide and Pancreatic Cancer.</a:t>
            </a:r>
          </a:p>
          <a:p>
            <a:r>
              <a:t>The baseline LLM hallucinates an ESCALATE decision with 0.85 confidence because it recalls the 2013 FDA investigation.</a:t>
            </a:r>
          </a:p>
          <a:p>
            <a:r>
              <a:t>PharmaGuard checks live FAERS records, finds 0 co-occurrences, and fires the Hard Safety Gate—returning DO_NOT_ESCALATE.</a:t>
            </a:r>
          </a:p>
          <a:p>
            <a:r>
              <a:t>Tool grounding eliminates phantom regulatory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highlights our epistemic honesty.</a:t>
            </a:r>
          </a:p>
          <a:p>
            <a:r>
              <a:t>When we ran our ablation study forcing the LLM to derive plausibility without lookup tables, it achieved 1.000 Strict Recall.</a:t>
            </a:r>
          </a:p>
          <a:p>
            <a:r>
              <a:t>However, inspecting transcripts revealed regulatory memory leakage: the LLM cited FDA Boxed Warnings instead of biochemical pathways.</a:t>
            </a:r>
          </a:p>
          <a:p>
            <a:r>
              <a:t>We rejected this artificial perfection and locked lookup_first mode to enforce genuine pharmacological grounding.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evaluation dashboard provides a full clinical review interface with 4 dedicated views: Overview, Per-Pair Table, Disagreement Spotlight, and Baseline Comparison.</a:t>
            </a:r>
          </a:p>
          <a:p>
            <a:r>
              <a:t>Crucially, it is engineered for zero live network calls at runtime, reading pre-committed JSON evaluation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summary, PharmaGuard proves that grounding LLMs in deterministic biomedical tools eliminates hallucinations, enforces safety gates, and cuts alert fatigue by 50%.</a:t>
            </a:r>
          </a:p>
          <a:p>
            <a:r>
              <a:t>In the final semester, we will expand MedDRA hierarchical mapping and integrate international pharmacovigilance streams.</a:t>
            </a:r>
          </a:p>
          <a:p>
            <a:r>
              <a:t>Thank you, Dr. Arya and members of the committee. We are now open to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18440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19456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PharmaGuard</a:t>
            </a:r>
          </a:p>
          <a:p>
            <a:pPr>
              <a:spcBef>
                <a:spcPts val="800"/>
              </a:spcBef>
              <a:defRPr sz="1700" b="1">
                <a:solidFill>
                  <a:srgbClr val="2563EB"/>
                </a:solidFill>
                <a:latin typeface="Arial"/>
              </a:defRPr>
            </a:pPr>
            <a:r>
              <a:t>Intelligent Pharmacovigilance Signal Triage Orchestrator Grounded in Multi-Source Clinical Evidence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 Tool-Grounded, Tri-Source Evidence Fusion Agent for Postmarketing Adverse Drug Event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114800"/>
            <a:ext cx="941832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251960"/>
            <a:ext cx="8869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Team: Krishna Sikheriya (IIT2023139, Leader) · Lokesh Bawariya (IIT2023138) · Naitik Jain (IIB2023036)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Supervisor: Dr. Nikhilanand Arya · Assistant Professor, Department of IT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Department of Information Technology · Indian Institute of Information Technology, Allahabad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Clinical Problem &amp; The LLM Triage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The Postmarketing Triage Crisis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Millions of spontaneous adverse event reports are submitted annually to postmarketing safety databases like US FDA FAERS.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Acute Triage Bottleneck: Distinguishing true emergent pharmacological signals from background noise, uncorroborated reports, and heavy polypharmacy confounding.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High Cost of Error: Spurious alarms cause clinical alert fatigue; missed signals risk serious patient injury.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</a:defRPr>
            </a:pPr>
            <a:r>
              <a:t>3 Fatal Failure Modes of Ungrounded LLMs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1. Hallucinated Clinical Confidence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LLMs output uncalibrated self-scores (e.g. 0.85+) based on linguistic fluency rather than empirical postmarketing statistics.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2. Historical Regulatory Confusion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LLMs recall past controversies (e.g. liraglutide + pancreatic cancer), confusing investigated hypotheses with confirmed causal links.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3. Parametric Epistemic Leakage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LLMs memorize famous FDA Boxed Warnings from training text, overriding mechanistic pathway analysis with ungrounded recall.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Related Work &amp; Literature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Foundational &amp; Empirical Precedents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ReAct Architecture (Yao et al., ICLR 2023)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What it shows: Foundational framework interleaving thought-action-observation tool loops.</a:t>
            </a:r>
          </a:p>
          <a:p>
            <a:pPr>
              <a:defRPr sz="1100">
                <a:solidFill>
                  <a:srgbClr val="166534"/>
                </a:solidFill>
              </a:defRPr>
            </a:pPr>
            <a:r>
              <a:t>  Gap addressed: Generic; lacks domain-specific multi-source evidence weighting, continuous confidence calibration, and deterministic safety gates.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PSEBench (arXiv:2606.05463, 2026)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What it shows: Closest empirical analog: 5k-case benchmark for LLM patient safety event triage.</a:t>
            </a:r>
          </a:p>
          <a:p>
            <a:pPr>
              <a:defRPr sz="1100">
                <a:solidFill>
                  <a:srgbClr val="166534"/>
                </a:solidFill>
              </a:defRPr>
            </a:pPr>
            <a:r>
              <a:t>  Gap addressed: Evaluates hospital incident reports; no drug pharmacovigilance multi-source benchmark existed prior to PharmaGuard.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Omar et al. (Communications Medicine, 2025)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What it shows: Empirical assurance analysis: LLMs hallucinated on planted false details in up to 83% of clinical decision support cases.</a:t>
            </a:r>
          </a:p>
          <a:p>
            <a:pPr>
              <a:defRPr sz="1100">
                <a:solidFill>
                  <a:srgbClr val="166534"/>
                </a:solidFill>
              </a:defRPr>
            </a:pPr>
            <a:r>
              <a:t>  Gap addressed: Provides core empirical proof for why ungrounded LLMs must not generate clinical confidence scores without tool grounding.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Domain Landscape &amp; Multi-Agent Contrast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Venugopal Review (J. Med. AI, Jan 2026)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What it shows: Maps the conceptual space for agentic AI across the pharmacovigilance lifecycle.</a:t>
            </a:r>
          </a:p>
          <a:p>
            <a:pPr>
              <a:defRPr sz="1100">
                <a:solidFill>
                  <a:srgbClr val="166534"/>
                </a:solidFill>
              </a:defRPr>
            </a:pPr>
            <a:r>
              <a:t>  Gap addressed: Purely narrative/theoretical; describes no implemented, benchmarked software. PharmaGuard is a concrete realization.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DruGagent (2025/2026)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What it shows: Multi-agent ReAct + literature grounding + per-tool ablation discipline.</a:t>
            </a:r>
          </a:p>
          <a:p>
            <a:pPr>
              <a:defRPr sz="1100">
                <a:solidFill>
                  <a:srgbClr val="166534"/>
                </a:solidFill>
              </a:defRPr>
            </a:pPr>
            <a:r>
              <a:t>  Gap addressed: Targets pre-clinical drug discovery rather than postmarketing adverse-event signal surveillance.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MDAgents (Kim 2024) / TeamMedAgents (Mishra 2025)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What it shows: Adaptive multi-agent collaboration with dynamic role assignment &amp; team science.</a:t>
            </a:r>
          </a:p>
          <a:p>
            <a:pPr>
              <a:defRPr sz="1100">
                <a:solidFill>
                  <a:srgbClr val="166534"/>
                </a:solidFill>
              </a:defRPr>
            </a:pPr>
            <a:r>
              <a:t>  Gap addressed: Complex dynamic routing introduces non-determinism; PharmaGuard adopts audited single-agent tools with deterministic scoring for regulatory auditability.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PharmaGuard Architecture: Tri-Source Evidence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openFDA FAERS Engine</a:t>
            </a:r>
          </a:p>
          <a:p>
            <a:pPr>
              <a:spcBef>
                <a:spcPts val="400"/>
              </a:spcBef>
              <a:defRPr sz="1200" b="1">
                <a:solidFill>
                  <a:srgbClr val="2563EB"/>
                </a:solidFill>
              </a:defRPr>
            </a:pPr>
            <a:r>
              <a:t>• Weight: 0.40 (Primary Signal)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2×2 Contingency Table (PRR, ROR)</a:t>
            </a:r>
            <a:br/>
            <a:r>
              <a:t>• Woolf 95% Log-CI Calculation</a:t>
            </a:r>
            <a:br/>
            <a:r>
              <a:t>• Down-weights signals where lower 95% CI &lt; 1.0 (prevents small-sample false alarms)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916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ChEMBL Target Plausibility</a:t>
            </a:r>
          </a:p>
          <a:p>
            <a:pPr>
              <a:spcBef>
                <a:spcPts val="400"/>
              </a:spcBef>
              <a:defRPr sz="1200" b="1">
                <a:solidFill>
                  <a:srgbClr val="2563EB"/>
                </a:solidFill>
              </a:defRPr>
            </a:pPr>
            <a:r>
              <a:t>• Weight: 0.20 (Biological Corroboration)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Target Mechanism of Action (MoA)</a:t>
            </a:r>
            <a:br/>
            <a:r>
              <a:t>• Curated Expert Rating (v1.0)</a:t>
            </a:r>
            <a:br/>
            <a:r>
              <a:t>• Levels: HIGH (0.90) / MOD (0.50) / LOW (0.00)</a:t>
            </a:r>
            <a:br/>
            <a:r>
              <a:t>• Evaluates target pathway plausibility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6916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PubMed Literature Grading</a:t>
            </a:r>
          </a:p>
          <a:p>
            <a:pPr>
              <a:spcBef>
                <a:spcPts val="400"/>
              </a:spcBef>
              <a:defRPr sz="1200" b="1">
                <a:solidFill>
                  <a:srgbClr val="2563EB"/>
                </a:solidFill>
              </a:defRPr>
            </a:pPr>
            <a:r>
              <a:t>• Weight: 0.40 (Clinical Evidence)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NCBI E-utilities API + Abstract Fetch</a:t>
            </a:r>
            <a:br/>
            <a:r>
              <a:t>• LLM-graded against versioned rubric (v1.0)</a:t>
            </a:r>
            <a:br/>
            <a:r>
              <a:t>• Grade A: Statistically significant (OR/CI)</a:t>
            </a:r>
            <a:br/>
            <a:r>
              <a:t>• Grade B: Clinical case reports</a:t>
            </a:r>
            <a:br/>
            <a:r>
              <a:t>• Grade C: Negative/Uncorroborated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Deterministic Confidence Formula &amp; Hard Safety Gating</a:t>
            </a:r>
          </a:p>
          <a:p>
            <a:pPr>
              <a:spcBef>
                <a:spcPts val="300"/>
              </a:spcBef>
              <a:defRPr sz="1400" b="1">
                <a:solidFill>
                  <a:srgbClr val="2563EB"/>
                </a:solidFill>
              </a:defRPr>
            </a:pPr>
            <a:r>
              <a:t>Confidence = 0.40 · S_FAERS + 0.40 · S_PubMed + 0.20 · S_Plausibility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• HARD SAFETY GATE: If FAERS == NO_SIGNAL → Immediately force DO_NOT_ESCALATE (hypothesis without real-world patient reports cannot escalate).</a:t>
            </a:r>
            <a:br/>
            <a:r>
              <a:t>• DECISION BOUNDARIES: Confidence ≥ 0.70 &amp; FAERS ≥ MODERATE → ESCALATE | Confidence ≥ 0.35 → MONITOR | Otherwise → DO_NOT_ESCALATE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Ground Truth Dataset &amp; Evaluation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15-Pair Benchmarking Protocol</a:t>
            </a:r>
          </a:p>
          <a:p>
            <a:pPr>
              <a:spcBef>
                <a:spcPts val="600"/>
              </a:spcBef>
              <a:defRPr sz="1250">
                <a:solidFill>
                  <a:srgbClr val="64748B"/>
                </a:solidFill>
              </a:defRPr>
            </a:pPr>
            <a:r>
              <a:t>Stratified into 3 distinct clinical cohorts:</a:t>
            </a:r>
          </a:p>
          <a:p>
            <a:pPr>
              <a:spcBef>
                <a:spcPts val="800"/>
              </a:spcBef>
              <a:defRPr sz="1300" b="1">
                <a:solidFill>
                  <a:srgbClr val="166534"/>
                </a:solidFill>
              </a:defRPr>
            </a:pPr>
            <a:r>
              <a:t>1. Confirmed Positives (n = 7)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Established drug safety signals (e.g. rofecoxib::myocardial_infarction, rosiglitazone::heart_failure, montelukast::suicidal_ideation).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2. Genuine Negative Controls (n = 5)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No causal link (e.g. metformin::hypoglycaemia [monotherapy negative], liraglutide::pancreatic_cancer [investigated negative]).</a:t>
            </a:r>
          </a:p>
          <a:p>
            <a:pPr>
              <a:spcBef>
                <a:spcPts val="800"/>
              </a:spcBef>
              <a:defRPr sz="1300" b="1">
                <a:solidFill>
                  <a:srgbClr val="334155"/>
                </a:solidFill>
              </a:defRPr>
            </a:pPr>
            <a:r>
              <a:t>3. Zero-Report Controls (n = 3)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Zero FAERS co-occurrences (e.g. albuterol::suicidal_ideation) to test hard safety gate short-circuiting.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Statistical Evaluation Protocol</a:t>
            </a:r>
          </a:p>
          <a:p>
            <a:pPr>
              <a:spcBef>
                <a:spcPts val="600"/>
              </a:spcBef>
              <a:defRPr sz="1250">
                <a:solidFill>
                  <a:srgbClr val="64748B"/>
                </a:solidFill>
              </a:defRPr>
            </a:pPr>
            <a:r>
              <a:t>Dual-Method Uncertainty Quantification: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Exact Wilson Score 95% Binomial CIs: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Standard for small-sample binomial proportions; avoids artificial 0/N collapse and correctly bounds precision [0.610, 1.000].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Non-parametric Bootstrap Resampling (B = 1000):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Empirical percentile intervals with fixed random seed (seed=42) for end-to-end evaluation reproducibility.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Strict vs. Lenient Metric Framework: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Reports strict binary escalation alongside surveillance-aware safety recall to prevent misleading clinical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Headline Benchmark: Why 6/7 Beats 15/15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PharmaGuard (Tool-Grounded) vs. Single-Shot LLM Baseline (No Tools)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Strict Precision  : PharmaGuard = 1.000 [0.610 – 1.000]  | Baseline = 0.875 [0.529 – 0.978]  → Zero false positive alarms on negative controls under PharmaGuard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Strict Recall     : PharmaGuard = 0.857 (6 of 7) [0.487 – 0.974] | Baseline = 1.000 (7 of 7) [0.646 – 1.000] → Strict FN = Montelukast (held at MONITOR due to unconfirmed CNS mechanism)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Strict Specificity: PharmaGuard = 1.000 [0.676 – 1.000]  | Baseline = 0.875 [0.529 – 0.978]  → Baseline falsely escalated liraglutide on historical controversy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Lenient Recall    : PharmaGuard = 1.000 (7 of 7) [0.646 – 1.000] | Baseline = 1.000 (7 of 7) [0.646 – 1.000] → Zero safety-critical signals missed across both systems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Over-Caution Rate : PharmaGuard = 12.5% (1 of 8)         | Baseline = 25.0% (2 of 8)         → 50% reduction in unnecessary alerts on clean negative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Key Finding: Why 6/7 Beats 15/15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In pharmacovigilance, an ungrounded model claiming '15/15 recall' is over-escalating indiscriminately. PharmaGuard's 6/7 Strict Recall reflects genuine epistemic discipline: flagging real-world signals for human surveillance (MONITOR) while refusing to declare confirmed causal escalation without corroborating biological mechanisms.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Dual-Metric Philosophy: Strict vs. Lenient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Strict Evaluation</a:t>
            </a:r>
          </a:p>
          <a:p>
            <a:pPr>
              <a:spcBef>
                <a:spcPts val="400"/>
              </a:spcBef>
              <a:defRPr sz="1200" b="1">
                <a:solidFill>
                  <a:srgbClr val="2563EB"/>
                </a:solidFill>
              </a:defRPr>
            </a:pPr>
            <a:r>
              <a:t>Condition: Only ESCALATE is counted as True Positive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Purpose: Measures high-confidence, definitive regulatory triage.</a:t>
            </a:r>
            <a:br/>
            <a:r>
              <a:t>• Requires BOTH strong epidemiological disproportionality AND biological plausibility.</a:t>
            </a:r>
            <a:br/>
            <a:r>
              <a:t>• Highlights epistemic caution when mechanism is unconfirmed (e.g. montelukast → MONITOR, strictly recorded as FN = 1).</a:t>
            </a:r>
            <a:br/>
            <a:r>
              <a:t>• Strict Precision: 1.000 | Strict Specificity: 1.000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Lenient Evaluation</a:t>
            </a:r>
          </a:p>
          <a:p>
            <a:pPr>
              <a:spcBef>
                <a:spcPts val="400"/>
              </a:spcBef>
              <a:defRPr sz="1200" b="1">
                <a:solidFill>
                  <a:srgbClr val="166534"/>
                </a:solidFill>
              </a:defRPr>
            </a:pPr>
            <a:r>
              <a:t>Condition: ESCALATE and MONITOR both count as True Positive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Purpose: Measures patient safety surveillance coverage.</a:t>
            </a:r>
            <a:br/>
            <a:r>
              <a:t>• Confirms that NO safety-critical signal is dropped silently without human review.</a:t>
            </a:r>
            <a:br/>
            <a:r>
              <a:t>• Lenient Recall: 1.000 (7 of 7 confirmed positives captured).</a:t>
            </a:r>
            <a:br/>
            <a:r>
              <a:t>• Lenient F1: 0.933 (+10.9% over Single-Shot Baseline's 0.824).</a:t>
            </a:r>
            <a:br/>
            <a:r>
              <a:t>• Evaluates whether confounded signals (metformin) are safely triaged.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Case Study 1: Montelukast &amp; Suicidal Ideation (MONITOR)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Evidence Profile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Drug / Reaction: montelukast :: suicidal_ideation</a:t>
            </a:r>
            <a:br/>
            <a:r>
              <a:t>• Ground Truth: Confirmed Positive (FDA Boxed Warning 2020)</a:t>
            </a:r>
            <a:br/>
            <a:r>
              <a:t>• openFDA FAERS: MODERATE signal (PRR = 3.37, 1,259 reports)</a:t>
            </a:r>
            <a:br/>
            <a:r>
              <a:t>• PubMed Evidence: Grade A (multiple observational studies with statistically significant odds ratios and 95% CIs)</a:t>
            </a:r>
            <a:br/>
            <a:r>
              <a:t>• ChEMBL MoA: Plausibility = LOW</a:t>
            </a:r>
            <a:br/>
            <a:r>
              <a:t>  (CysLT1 leukotriene receptors are predominantly peripheral; no direct CNS causal pathway is pharmacologically confirmed)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Triage Decision &amp; Clinical Rationale</a:t>
            </a:r>
          </a:p>
          <a:p>
            <a:pPr>
              <a:spcBef>
                <a:spcPts val="600"/>
              </a:spcBef>
              <a:defRPr sz="1250" b="1">
                <a:solidFill>
                  <a:srgbClr val="2563EB"/>
                </a:solidFill>
              </a:defRPr>
            </a:pPr>
            <a:r>
              <a:t>Deterministic Confidence Decomposition: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• S_FAERS (MODERATE) = 0.70 × 0.40 = 0.280</a:t>
            </a:r>
            <a:br/>
            <a:r>
              <a:t>• S_PubMed (Grade A) = 0.85 × 0.40 = 0.340</a:t>
            </a:r>
            <a:br/>
            <a:r>
              <a:t>• S_Plausibility (LOW) = 0.22 × 0.20 = 0.044</a:t>
            </a:r>
            <a:br/>
            <a:r>
              <a:t>• Total Confidence = 0.664 (&lt; 0.70 threshold) → MONITOR</a:t>
            </a:r>
          </a:p>
          <a:p>
            <a:pPr>
              <a:spcBef>
                <a:spcPts val="800"/>
              </a:spcBef>
              <a:defRPr sz="1250" b="1">
                <a:solidFill>
                  <a:srgbClr val="166534"/>
                </a:solidFill>
              </a:defRPr>
            </a:pPr>
            <a:r>
              <a:t>Why MONITOR is the Pharmacovigilance-Correct Outcome: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PharmaGuard flags the genuine real-world signal for clinical surveillance while honestly reflecting unresolved mechanistic uncertainty. It avoids over-confident escalation on unconfirmed biological pathways.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Case Study 2: Metformin &amp; Hypoglycaemia (MONITOR)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Confounded Polypharmacy Profile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Drug / Reaction: metformin :: hypoglycaemia</a:t>
            </a:r>
            <a:br/>
            <a:r>
              <a:t>• Ground Truth: Negative Control (Monotherapy negative)</a:t>
            </a:r>
            <a:br/>
            <a:r>
              <a:t>• openFDA FAERS: STRONG signal (PRR = 10.73, 9,344 reports)</a:t>
            </a:r>
            <a:br/>
            <a:r>
              <a:t>  Driven by ubiquitous co-prescription with insulin and sulfonylureas.</a:t>
            </a:r>
            <a:br/>
            <a:r>
              <a:t>• ChEMBL MoA: Plausibility = LOW (Metformin reduces hepatic gluconeogenesis; does NOT stimulate insulin secretion)</a:t>
            </a:r>
            <a:br/>
            <a:r>
              <a:t>• PubMed Evidence: Grade C (isolated confounded observational reports)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Triage Decision &amp; Safety Floor</a:t>
            </a:r>
          </a:p>
          <a:p>
            <a:pPr>
              <a:spcBef>
                <a:spcPts val="600"/>
              </a:spcBef>
              <a:defRPr sz="1250" b="1">
                <a:solidFill>
                  <a:srgbClr val="2563EB"/>
                </a:solidFill>
              </a:defRPr>
            </a:pPr>
            <a:r>
              <a:t>Deterministic Confidence Decomposition: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• S_FAERS (STRONG) = 1.00 × 0.40 = 0.400 (Confidence Floor)</a:t>
            </a:r>
            <a:br/>
            <a:r>
              <a:t>• S_PubMed (Grade C) = 0.00 × 0.40 = 0.000</a:t>
            </a:r>
            <a:br/>
            <a:r>
              <a:t>• S_Plausibility (LOW) = 0.00 × 0.20 = 0.000</a:t>
            </a:r>
            <a:br/>
            <a:r>
              <a:t>• Total Confidence = 0.400 (≥ 0.35 threshold) → MONITOR</a:t>
            </a:r>
          </a:p>
          <a:p>
            <a:pPr>
              <a:spcBef>
                <a:spcPts val="800"/>
              </a:spcBef>
              <a:defRPr sz="1250" b="1">
                <a:solidFill>
                  <a:srgbClr val="166534"/>
                </a:solidFill>
              </a:defRPr>
            </a:pPr>
            <a:r>
              <a:t>Why MONITOR is the Safety-First Decision: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PharmaGuard discounts the heavily confounded signal from ESCALATE down to MONITOR, but refuses to silently drop a pair with 9,340 real patient reports. This prevents algorithmic blind spots.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Baseline Comparison: The Liraglutide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45309"/>
                </a:solidFill>
              </a:defRPr>
            </a:pPr>
            <a:r>
              <a:t>Single-Shot LLM Baseline (No Tools)</a:t>
            </a:r>
          </a:p>
          <a:p>
            <a:pPr>
              <a:spcBef>
                <a:spcPts val="600"/>
              </a:spcBef>
              <a:defRPr sz="1250" b="1">
                <a:solidFill>
                  <a:srgbClr val="0F172A"/>
                </a:solidFill>
              </a:defRPr>
            </a:pPr>
            <a:r>
              <a:t>Decision: ESCALATE (Confidence: 0.850 — Uncalibrated)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Failure Mode: Recalls historical regulatory controversy from training weights (2013 FDA/EMA joint investigation into GLP-1 agonists and pancreatitis/pancreatic cancer).</a:t>
            </a:r>
            <a:br/>
            <a:r>
              <a:t>• Fails to realize the joint 2014 regulatory review concluded no causal link was established.</a:t>
            </a:r>
            <a:br/>
            <a:r>
              <a:t>• Confuses 'this was investigated' with 'this was confirmed'.</a:t>
            </a:r>
            <a:br/>
            <a:r>
              <a:t>• Generates an expensive, spurious regulatory false alarm.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</a:defRPr>
            </a:pPr>
            <a:r>
              <a:t>PharmaGuard (Tool-Grounded)</a:t>
            </a:r>
          </a:p>
          <a:p>
            <a:pPr>
              <a:spcBef>
                <a:spcPts val="600"/>
              </a:spcBef>
              <a:defRPr sz="1250" b="1">
                <a:solidFill>
                  <a:srgbClr val="0F172A"/>
                </a:solidFill>
              </a:defRPr>
            </a:pPr>
            <a:r>
              <a:t>Decision: DO_NOT_ESCALATE (Confidence: 0.300)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Queries live openFDA FAERS endpoint → 0 co-occurrences found.</a:t>
            </a:r>
            <a:br/>
            <a:r>
              <a:t>• SignalStrength = NO_SIGNAL fires the HARD SAFETY GATE.</a:t>
            </a:r>
            <a:br/>
            <a:r>
              <a:t>• Disproportionality absence strictly overrides literature mentions.</a:t>
            </a:r>
            <a:br/>
            <a:r>
              <a:t>• Hard Safety Gate forces DO_NOT_ESCALATE immediately.</a:t>
            </a:r>
            <a:br/>
            <a:r>
              <a:t>• Successfully eliminates historical hallucination.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Epistemic Discipline &amp; The Ablation Study Warning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45309"/>
                </a:solidFill>
              </a:defRPr>
            </a:pPr>
            <a:r>
              <a:t>The force_agent Ablation: When '100% Recall' is Actually a Leakage Failure Mode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During Phase 3 ablation testing, we tested an unconstrained agent mode (force_agent) where the LLM derived biological plausibility dynamically without human-curated lookup tables.</a:t>
            </a:r>
          </a:p>
          <a:p>
            <a:pPr>
              <a:spcBef>
                <a:spcPts val="1000"/>
              </a:spcBef>
              <a:defRPr sz="1350" b="1">
                <a:solidFill>
                  <a:srgbClr val="0F172A"/>
                </a:solidFill>
              </a:defRPr>
            </a:pPr>
            <a:r>
              <a:t>The Discovery: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• The force_agent mode achieved an apparent '1.000 Strict Recall' (7 of 7) by escalating Montelukast.</a:t>
            </a:r>
            <a:br/>
            <a:r>
              <a:t>• Transcript Inspection revealed the reason: The LLM explicitly cited the FDA Boxed Warning inside its biological reasoning chain!</a:t>
            </a:r>
            <a:br/>
            <a:r>
              <a:t>• Rather than performing de novo biochemical pathway analysis, the LLM leaked regulatory memory from its training corpus.</a:t>
            </a:r>
          </a:p>
          <a:p>
            <a:pPr>
              <a:spcBef>
                <a:spcPts val="1000"/>
              </a:spcBef>
              <a:defRPr sz="1350" b="1">
                <a:solidFill>
                  <a:srgbClr val="2563EB"/>
                </a:solidFill>
              </a:defRPr>
            </a:pPr>
            <a:r>
              <a:t>Core Architectural Decision (DECISIONS.md §17 &amp; §19):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We explicitly locked the production pipeline to lookup_first mode. LLMs in clinical safety must act as structured knowledge synthesizers and evidence graders, never unverified biological oracle reasoners.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Modular Evaluation Dashboard &amp; Verified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4-View Clinical Presentation Suite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• 1. Overview View: Hero metrics (0.857 Strict Recall, 12.5% OCR, FP=0), Wilson 95% CIs, brand identity.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• 2. Per-Pair Table: Dense 15-pair matrix with inline report counts, category filters, and interactive Plotly confidence bar charts.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• 3. Disagreement Spotlight: Dedicated dual-column deep dive into Montelukast and Metformin evidence decompositions.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• 4. Baseline Comparison: Side-by-side metric tables and Liraglutide concrete reasoning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Engineering &amp; Presentation Invariants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• Zero Live Network Calls: Reads exclusively from committed JSON reports (outputs/); guarantees instant, crash-free presentation execution.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• Modular Architecture: Refactored scripts/dashboard.py (78 lines) into dedicated scripts/dashboard_modules/ (styles, data_loader, components, views).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• Strict One-Way Dependency: Components provide pure UI formatters; views never import cyclically.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• Continuous Verification: All 51 pytest unit &amp; regression tests passing in 35s.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PHARMAGUARD · MID-SEMESTER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Capstone Summary, Next Steps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</a:defRPr>
            </a:pPr>
            <a:r>
              <a:t>Mid-Semester Contributions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1. Tri-Source Grounded Architecture:</a:t>
            </a:r>
            <a:br/>
            <a:r>
              <a:t>   Deterministic fusion of FAERS statistics, ChEMBL MoA, and versioned PubMed grading.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2. Rigorous Dual-Metric Benchmark:</a:t>
            </a:r>
            <a:br/>
            <a:r>
              <a:t>   1.000 Strict Precision, 1.000 Lenient Recall, and a 50% reduction in clinician over-caution burden.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3. Complete Evaluation Artifacts:</a:t>
            </a:r>
            <a:br/>
            <a:r>
              <a:t>   51 passing unit tests, modular presentation dashboard, and full decision audit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Future Roadmap (Semester 8)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MedDRA Hierarchy Expansion: Automated MedDRA SOC/HLT roll-up to resolve synonym fragmentation.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Multi-Jurisdiction Ingestion: Integrating EudraVigilance (EMA) and PMDA (Japan) alongside openFDA.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Prospective EHR Triage Adapter: Real-time clinical surveillance adapter for hospital EHR streams.</a:t>
            </a:r>
          </a:p>
          <a:p>
            <a:pPr>
              <a:spcBef>
                <a:spcPts val="1400"/>
              </a:spcBef>
              <a:defRPr sz="1400" b="1">
                <a:solidFill>
                  <a:srgbClr val="0F172A"/>
                </a:solidFill>
              </a:defRPr>
            </a:pPr>
            <a:r>
              <a:t>Thank you.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