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389120" cy="347472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FDBFE"/>
                </a:solidFill>
                <a:latin typeface="Arial"/>
              </a:defRPr>
            </a:pPr>
            <a:r>
              <a:t>B.TECH 7TH-SEMESTER CAPSTONE DEFENSE (2026–27)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PharmaGuard: Intelligent Pharmacovigilance Signal Triage Orchestrator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 Tool-Grounded, Tri-Source Evidence Fusion Agent for Postmarketing Adverse Drug Event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32918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STUDENT INVESTIGATORS (GROUP 07)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• Krishna Sikheriya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Roll No: IIT2023139 (Team Leader)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• Lokesh Bawariya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Roll No: IIT2023138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• Naitik Jain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   Roll No: IIB2023036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474720"/>
            <a:ext cx="32918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FACULTY SUPERVISOR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Dr. Nikhilanand Arya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Assistant Professor</a:t>
            </a:r>
            <a:br/>
            <a:r>
              <a:t>Department of Information Technology</a:t>
            </a:r>
            <a:br/>
            <a:r>
              <a:t>Indian Institute of Information Technology, Allahabad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474720"/>
            <a:ext cx="329184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CORE VALIDATION STATS</a:t>
            </a:r>
          </a:p>
          <a:p>
            <a:pPr>
              <a:spcBef>
                <a:spcPts val="400"/>
              </a:spcBef>
              <a:defRPr sz="1300" b="1">
                <a:solidFill>
                  <a:srgbClr val="34D399"/>
                </a:solidFill>
                <a:latin typeface="Arial"/>
              </a:defRPr>
            </a:pPr>
            <a:r>
              <a:t>165 Pairs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Across 3 Stratified Cohorts</a:t>
            </a:r>
          </a:p>
          <a:p>
            <a:pPr>
              <a:spcBef>
                <a:spcPts val="400"/>
              </a:spcBef>
              <a:defRPr sz="1300" b="1">
                <a:solidFill>
                  <a:srgbClr val="34D399"/>
                </a:solidFill>
                <a:latin typeface="Arial"/>
              </a:defRPr>
            </a:pPr>
            <a:r>
              <a:t>100% Precision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Zero False Alarms in Strict Gating</a:t>
            </a:r>
          </a:p>
          <a:p>
            <a:pPr>
              <a:spcBef>
                <a:spcPts val="400"/>
              </a:spcBef>
              <a:defRPr sz="1300" b="1">
                <a:solidFill>
                  <a:srgbClr val="34D399"/>
                </a:solidFill>
                <a:latin typeface="Arial"/>
              </a:defRPr>
            </a:pPr>
            <a:r>
              <a:t>242 Tests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Passing Automated Pytest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1.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Pharmacovigilance Bottleneck &amp; Clinician Alert Fatigue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2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THE POSTMARKETING SURVEILLANCE DILEMMA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Pre-Approval Trials are Blind to Rare Events: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Randomized trials enroll small, homogeneous cohorts (thousands). Rare, delayed, or idiosyncratic adverse drug reactions (ADRs) only emerge when medications reach millions of real-world patients.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Spontaneous Reporting is Massive but Noisy: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Postmarketing databases like US FDA FAERS receive millions of spontaneous reports annually. The data is noisy, heavily under-reported, and confounded by polypharmacy and baseline disease.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• Severe Healthcare &amp; Human Burden: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Adverse drug events represent a leading cause of preventable patient morbidity, hospitalizations, and tens of billions in direct healthcare expenditures annually.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THE ACUTE COGNITIVE TRIAGE BOTTLENECK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Manual Review Cannot Scale: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Safety teams face thousands of potential drug-event associations weekly. Manually cross-referencing FAERS, pharmacodynamics, and literature takes hours per candidate.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Clinician Alert Fatigue Hazard: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Ungrounded automated systems trigger pervasive false alarms. Clinicians routinely override 49% to 96% of drug safety alerts, rendering warnings ineffective.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The Asymmetric Cost of Error: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False Positives waste critical regulatory review resources; False Negatives leave severe, preventable patient harm unmonitored at national scale.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The Core Mission: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Automate the triage funnel to classify signals into ESCALATE, MONITOR, or DO_NOT_ESCALATE with provable safety gating and zero false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What PharmaGuard Is &amp; What Distinguishes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3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TRI-SOURCE EVIDENCE FUSION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FAERS Spontaneous Disproportionality: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Calculates PRR, ROR, and Woolf 95% CI floors from live FDA postmarketing records (Weight: 0.40).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ChEMBL Receptor Pharmacology: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Examines molecular target mechanisms of action for biological plausibility (Weight: 0.20).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PubMed Clinical Literature Grading: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Automates E-utilities retrieval and epidemiological evidence grading (Weight: 0.40).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PUBLIC BIOMEDICAL APIS ONLY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Zero EHR Data Lock-In: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Unlike recent causal AI frameworks (e.g., Toonsi 2026), PharmaGuard requires zero restricted Electronic Health Record data (e.g., MIMIC-IV or UK Biobank).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100% Open-Access &amp; Reproducible: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Operates entirely over open FDA, ChEMBL, and PubMed APIs with zero licensing or institutional data governance barriers.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Auditable &amp; Verifiable: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Every decision is fully reproducible with pre-registered deterministic rules and persistent SHA-256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OVERCOMING LLM FAILURE MODES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Eliminating Hallucinated Confidence: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Replaces arbitrary LLM self-reported confidence with closed-form mathematical score calculation.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Resolving Regulatory Confusion: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Prevents models from conflating past historical regulatory investigations with confirmed clinical harm (e.g., Liraglutide).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Adversarial Mechanistic Critic: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Detects and counterfactually penalizes LLM parametric memory leakage of regulatory warnings (MARCH pattern).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3. CLINICAL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Current Regulatory Standards &amp; Quantitative Disproportionality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4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THE 2 × 2 CONTINGENCY TABLE STANDARD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Classical quantitative signal detection compares adverse event counts against background reporting rates across all FDA FAERS submissions: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Proportional Reporting Ratio (PRR, Evans et al. 2001):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PRR = [a / (a + b)] / [c / (c + d)]</a:t>
            </a:r>
            <a:br/>
            <a:r>
              <a:t>Where a = reports with Drug X and Event Y; b = reports with Drug X and other events; c = reports with other drugs and Event Y; d = all other reports.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Reporting Odds Ratio (ROR, van Puijenbroek et al. 2002):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ROR = (a / c) / (b / d) = (a · d) / (b · c)</a:t>
            </a:r>
            <a:br/>
            <a:r>
              <a:t>Asymptotic standard error: SE(ln ROR) = √(1/a + 1/b + 1/c + 1/d).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Standard Regulatory Screening Gate: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Standard criteria for candidate signal generation:</a:t>
            </a:r>
            <a:br/>
            <a:r>
              <a:t>PRR ≥ 2.0,  Report Count n ≥ 3,  χ² ≥ 4.0,  95% CI_lower &gt; 1.0.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LIMITATIONS OF THE CLASSICAL STANDARD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Purely Correlational &amp; Mechanistically Blind: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 high PRR demonstrates mathematical co-occurrence, but cannot evaluate whether a drug's receptor pharmacology provides a plausible biological mechanism.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Vulnerable to Confounding by Indication: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Symptoms of the underlying disease treated (e.g., kidney failure in diabetics, heart attacks in hypertensive patients) are falsely flagged as adverse drug effects.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Vulnerable to Polypharmacy Bias: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Widely co-prescribed drugs (e.g., Metformin + Insulin) register severe false disproportionality signals due to companion drugs.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Denominator Dilution on Chronic Blockbusters (§31):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Widely prescribed chronic therapies (e.g., Amlodipine, SSRIs) have massive reporting denominators, diluting true signals into the 1.1–1.9 range below static thresholds.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4.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Problem Statement &amp; Four Core Engineering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5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REVISED PROBLEM STATEMENT (DECISIONS.md §34.5)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"PharmaGuard is a lightweight, publicly-reproducible multi-agent framework for postmarketing adverse drug event triage that fuses real-time FAERS disproportionality statistics, ChEMBL target pharmacology, and PubMed clinical literature grading through deterministic safety-gated escalation logic. The system incorporates disease/indication-context reasoning via public WHO ATC classification to stratify and evaluate signal interpretation across multiple therapeutic areas without requiring restricted EHR data."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6060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OBJECTIVE #1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1. Deterministic Multi-Source Fusion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Combine FAERS disproportionality, ChEMBL pharmacology, and PubMed clinical grading via closed-form linear weighting (0.40 / 0.20 / 0.40) rather than uncalibrated generative language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108960"/>
            <a:ext cx="26060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OBJECTIVE #2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2. Hard Safety Gating (Gate 1)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Enforce an unyielding empirical safety rule: FAERS NO_SIGNAL strictly forces DO_NOT_ESCALATE, preventing literature speculation from ever generating false alarms.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08960"/>
            <a:ext cx="26060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OBJECTIVE #3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3. Public Disease-Context Reasoning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Characterize indication confounding and channeling bias using open WHO ATC ontologies resolved via ChEMBL, providing causal grounding without restricted clinical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108960"/>
            <a:ext cx="26060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OBJECTIVE #4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</a:defRPr>
            </a:pPr>
            <a:r>
              <a:t>4. Multi-Scale Empirical Validation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</a:defRPr>
            </a:pPr>
            <a:r>
              <a:t>Validate across 3 standardized benchmark cohorts (15 Core + 50 Blockbusters + 100 OMOP = 165 pairs) with exact Wilson score 95% confidence intervals and dual strict/lenient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5. RELATED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Literature Evolution: Three Generations of Pharmacovigilance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6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GENERATION 1 (1998–2009)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Classical Statistical Disproportionality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Key Citations: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Bate 1998 (BCPNN), Evans 2001 (PRR), van Puijenbroek 2002 (ROR), Bate &amp; Evans 2009.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Core Methodology: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 × 2 contingency tables, Empirical Bayes shrinkage, frequentist odds ratios.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Boundary / Bottleneck: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Fast and public, but blind to biology; highly susceptible to reporting biases and confounding.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GENERATION 2 (2012–2023)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Unimodal ML &amp; NLP on Clinical Records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Key Citations: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Harpaz 2012, Vilar 2014, Coste 2023 (systematic review of 101 studies).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Core Methodology: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Supervised classification, clinical note text mining, patient EHR feature engineering.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Boundary / Bottleneck: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Improved feature extraction, but locked behind restricted hospital EHRs; opaque black-box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GENERATION 3 (2023–2026)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Multi-Agent &amp; Foundation Model PV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Key Citations: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Yao 2023 (ReAct), Omar 2025 (LLM vulnerabilities), DruGagent 2025, Toonsi 2026 (Bioinformatics).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Core Methodology: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Conversational LLMs, autonomous tool calling, causal knowledge graphs over UK Biobank.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Boundary / Bottleneck: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Uncalibrated generative confidence (Omar 2025) or dependency on massive restricted cohorts (Toonsi 2026).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PHARMAGUARD'S STRATEGIC RESEARCH POSITIONING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PharmaGuard occupies the vital missing intersection: a lightweight, disease-context-aware agent that delivers causal-grade auditability and epistemic defenses (Adversarial Critic, Indication Concordance) using strictly public open APIs (FAERS, ChEMBL, PubMed)—achieving regulatory safety guarantees without hospital EHR data lock-in.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6.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Identified Research Gaps in Contemporary Pharmacovigilance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7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GAP 1: INDICATION CONFOUNDING IS NEGLECTED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Empirical Literature Evidence: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 comprehensive systematic review of 101 signal detection studies (Coste et al. 2023, Pharmacoepidemiol Drug Saf) revealed that only 10 of 101 studies (9.9%) addressed confounding by indication or reported stratified performance.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Clinical Impact: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Adverse events resulting from the treated disease are routinely misattributed to the therapy, distorting postmarketing risk evaluation.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PharmaGuard Solution: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Pre-registered 7-rule IndicationConcordance cascade mapping WHO ATC classes to MedDRA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GAP 2: STATIC DISPROPORTIONALITY THRESHOLDS FAIL (§31)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Empirical Discovery: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PharmaGuard's OMOP pilot revealed that static PRR ≥ 2.0 thresholds systematically fail on widely-prescribed chronic medications (Amlodipine, SSRIs, Nifedipine).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The Mathematical Mechanism: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Massive prescribing volume inflates the reporting denominator, compressing true signals into the 1.1–1.9 range despite thousands of reports and significant lower 95% CIs.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PharmaGuard Solution: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Formulated and evaluated alternative CI-based signal detection gates (Evans et al. 2001).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GAP 3: CAUSAL PV DEPENDS ON RESTRICTED EHRS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Data Accessibility Barrier: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State-of-the-art causal knowledge graph frameworks (e.g., Toonsi et al. 2026, Bioinformatics) require patient-level Electronic Health Records (MIMIC-IV, UK Biobank).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Regulatory &amp; Reproducibility Impact: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Restricted data prevents independent peer replication and deployment in resource-constrained environments.</a:t>
            </a:r>
          </a:p>
          <a:p>
            <a:pPr>
              <a:spcBef>
                <a:spcPts val="1200"/>
              </a:spcBef>
              <a:defRPr sz="1150" b="1">
                <a:solidFill>
                  <a:srgbClr val="0F172A"/>
                </a:solidFill>
              </a:defRPr>
            </a:pPr>
            <a:r>
              <a:t>• PharmaGuard Solution: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Grounded entirely on public biomedical APIs (openFDA, ChEMBL, NCBI E-utilities).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7. BENCHMARK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Multi-Tiered Benchmark Cohorts (N = 165 Evaluated Pairs)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8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BENCHMARK (15 PAIRS)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Primary Golden Reference Standard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7 Confirmed Positives: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Established regulatory signals backed by FDA Boxed Warnings &amp; clinical trials (Montelukast, Ciprofloxacin, Clozapine, Rosiglitazone).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5 Genuine Negative Controls: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Formally investigated and dismissed signals or monotherapy controls (Metformin, Liraglutide, Atorvastatin/Dementia).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3 Zero-Report Edge Cases: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Zero FAERS reports to verify hard safety gate short-circuiting (Albuterol, Amoxicillin, Adalimumab).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TOP PRESCRIBED BLOCKBUSTERS (50 PAIRS)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Real-World Outpatient Safety Cohort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25 Boxed Warning Positives: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Highest-mortality Boxed Warnings across Statins, ACEi/ARBs, Antibiotics, Antidepressants, Opioids, Anticonvulsants.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25 Balanced Negative Controls: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Widely prescribed outpatient therapies paired with safe outcomes to test clinical specificity.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Real-World Practice Focus: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Evaluates everyday outpatient prescribing safety with 100% offline Ollama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OMOP EXPANDED REFERENCE (100 PAIRS)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OHDSI Gold-Standard Organ Toxicity Set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50 Positives + 50 Negatives: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Established reference set from Ryan et al. 2013 (Drug Safety, Apache 2.0 license).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4 Severe Organ-Failure Phenotypes: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Acute Myocardial Infarction, Acute Liver Injury, Acute Kidney Injury, Upper GI Bleeding.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Chronic Dilution Testbed: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Demonstrated the empirical PRR denominator dilution phenomenon across chronic therapies.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100% PUBLIC DOMAIN &amp; OPEN ACCESS LICENSING DISCIPLINE (NOTICE.md)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All data derives from public FDA records, ChEMBL (CC BY-SA 3.0), and OHDSI (Apache 2.0). Zero MedDRA MSSO proprietary licensing dependencies; fully reproducible worldwide.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8.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Tri-Source Evidence Fusion &amp; Deterministic Safety Gating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9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STREAM 1: openFDA FAERS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Weight: 0.40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2 × 2 Disproportionality: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Calculates PRR, ROR, and Woolf 95% log-confidence interval floors.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Discrete Strength Tiers: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STRONG (1.00), MODERATE (0.66), WEAK (0.33), NO_SIGNAL (0.00).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Woolf Fallthrough Gate: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Downgrades tier if lower 95% CI &lt; 1.0/1.5/2.0 to guard against small-sample instability.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STREAM 2: ChEMBL Target MoA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Weight: 0.20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Molecular Pharmacology: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Queries receptor mechanism of action (MoA) via ChEMBL API v34.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Plausibility Scoring: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HIGH (0.90), MODERATE (0.50), LOW (0.00) based on biological pathway connection.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Blinded MoA Authoring: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MoA authoring strictly blind to adverse event to eliminate circular reasoning (§1.1).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STREAM 3: NCBI PubMed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Weight: 0.40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Automated Abstract Fetch: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NCBI E-utilities API fetches peer-reviewed clinical abstracts.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Standardized Rubric (v1.0):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Grade A (1.00: RCT/OR/HR w/ 95% CI), Grade B (0.50: Case reports), Grade C (0.00: Negative).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Zero String-Matching: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Semantic LLM grading cached by rubric prompt 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698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CLOSED-FORM COMPOSITE CONFIDENCE &amp; DETERMINISTIC DECISION RULES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Confidence = 0.40 · S_FAERS + 0.40 · S_PubMed + 0.20 · S_ChEMBL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Gate 1 (Hard Empirical Stop): If FAERS == NO_SIGNAL ⇒ Immediately force DO_NOT_ESCALATE (overrides high literature or plausibility).</a:t>
            </a:r>
            <a:br/>
            <a:r>
              <a:t>• ESCALATE: Confidence ≥ 0.70 AND FAERS ≥ MODERATE   |   MONITOR: Confidence ≥ 0.35   |   DO_NOT_ESCALATE: Otherwise.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9. DEEP-DIVE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Disease-Context Reasoning Engine (DiseaseContextTool)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10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WHO ATC ONTOLOGICAL TAXONOMY RESOLUTION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The Biological Challenge: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Spontaneous reporting confounded by indication: drugs prescribed for chronic illnesses (heart failure, hypertension) naturally co-occur with complications of that disease.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WHO ATC Hierarchical Classification: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Queries World Health Organization ATC codes via ChEMBL API molecule endpoints with 95.7% corpus coverage and curated WHO fallbacks.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Taxonomic Depth Resolved: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Level 1: Main Anatomical Group (e.g., C - Cardiovascular, N - Nervous)</a:t>
            </a:r>
            <a:br/>
            <a:r>
              <a:t>• Level 2: Pharmacological Subgroup (e.g., C08 - Calcium Channel Blockers, N06A - Antidepressants)</a:t>
            </a:r>
            <a:br/>
            <a:r>
              <a:t>• Level 4/5: Generic chemical substance identifier.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Lightweight Public Alternative: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Provides disease-level context comparable to complex EHR causal graphs (Toonsi 2026), but powered 100% by open biomedical ontologies.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PHARMACOLOGICAL UTILIZATION DURATION DERIVATION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CHRONIC Utilization (≥ 3 Months Continuous):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Antihypertensives (C02, C09), Statins (C10), Antidiabetics (A10), Antiepileptics (N03). Tens of millions of patients exposed over decades; vulnerable to PRR denominator dilution.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ACUTE Utilization (&lt; 4 Weeks Temporary):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Systemic antibacterials (J01), antivirals (J05), antifungals (J02). Short treatment windows; high event concentration yields robust disproportionality.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MIXED Utilization (Variable Indication):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NSAIDs (M01: acute headache vs. chronic osteoarthritis), bronchodilators (R03: acute rescue vs. maintenance).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Live Name-Resolution &amp; Retry Safeguards: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Built-in exponential backoff (retries=3) and exact ChEMBL preferred-name query fallbacks ensure 96.3% holdout resolution stability.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10. DEEP-DIVE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IndicationConcordance: 7 Pre-Registered Clinical Rules &amp; Citation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11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THE 7 PRE-REGISTERED CLINICAL HEURISTIC RULES (DECISIONS.md §35)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IND-CONF-01 (Cardiovascular / Ischemia): ATC C, B01 × Myocardial Infarction, Stroke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Psaty 1999, Salas 1999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IND-CONF-02 (Neuropsychiatric / CNS): ATC N × Suicidal Ideation, Depression, Seizures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Schneeweiss 2005, Gibbons 2007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IND-CONF-03 (Upper GI Ulcer / Bleeding): ATC A02, M01 × GI Haemorrhage, Peptic Ulcer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García Rodríguez 1994, Petri 1991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IND-CONF-04 (Glycemic Dysregulation): ATC A10 × Hypoglycaemia, Hyperglycaemia, DKA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Cryer 2002, Schneeweiss 2007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IND-CONF-05 (Hematologic Cytopenias): ATC L × Neutropenia, Thrombocytopenia, DVT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Lyman 2006, Groenwold 2011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IND-CONF-06 (Renal Azotemia / AKI): ATC C03, C09 × Acute Kidney Injury, Hyperkalaemia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Schoolwerth 2001, Lapi 2013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IND-CONF-07 (Airway Hyperresponsiveness): ATC R03 × Bronchospasm, Asthma Exacerbation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Verified Citations: Suissa 2003, Ernst 1993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66534"/>
                </a:solidFill>
              </a:defRPr>
            </a:pPr>
            <a:r>
              <a:t>TWO-ROUND CITATION AUDIT DISCIPLINE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The Threat of Citation Drift in AI: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Large language models frequently hallucinate or misattribute clinical citations. Research credibility requires strict verification of all grounding literature.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Round 1: Independent PubMed/NIH Audit (§35.8):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Audited all 21 supporting citations against PubMed/NIH registries; uncovered 13 incorrect journals, volumes, or publication years and corrected them.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Round 2: Domain-Specific Grounding (§35.8.2):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Removed over-extended general citations (e.g., generic Walker 1996), replacing them with domain-specific clinical trials (Lapi 2013 on triple-whammy AKI; Hernández-Díaz 2000 on NSAID GI bleeding).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Gold-Standard Verification: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100% of supporting rules are backed by real, verified, peer-reviewed clinical epidemiology.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11. DEEP-DIVE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Scoring-Isolation Design: The Core Architectural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12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THE ARCHITECTURAL ISOLATION WALL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The Design Choice: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IndicationConcordance operates strictly as an informational surveillance annotation (DECISIONS.md §35).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Scoring Impact = 0.000: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 production, the concordance flag contributes exactly 0.000 to the composite confidence score and causes zero discrete escalation shifts.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High-Visibility Clinical Provenance: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Flagged visibly on dashboard review cards and exported clinical dossiers to alert human safety reviewers to channeling bias without altering deterministic mathematics.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Verified Invariance Tests: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Automated regression tests (test_indication_concordance_inertness.py) verify byte-identical output invariance across pipeline executions.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WHY SCORING-INERT? ANTI-OVERFITTING DISCIPLINE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No Universal Confounding Constant Exists: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Pharmacoepidemiology consensus (Walker 1996, Psaty 1999, CIOMS VIII) proves bias factors vary from 1.2 to 20-fold. Inventing a fixed scalar discount without patient clinical records is unscientific guesswork.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The Atorvastatin Regression Trap (§32):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When we tested an automated chronic gate conditioning rule (Proposal B, §34), it caused an immediate false-positive regression on Atorvastatin + Dementia because Atorvastatin is also chronic.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Holdout Batch Empirical Result (§37):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Testing an optional 0.85× discount on 40 held-out OMOP pairs attenuated continuous confidence downward in 4 concordant pairs, but shifted 0 discrete triage categories (a low-power null result).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Anti-Overfitting Integrity (§15):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We refuse to tune discount constants post-hoc to force benchmark fits. The isolation wall preserves pipeline truth.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12. FINDING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OMOP 100-Pair Evaluation &amp; The Chronic PRR Dilution Paradox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13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6534"/>
                </a:solidFill>
              </a:defRPr>
            </a:pPr>
            <a:r>
              <a:t>STRICT SPECIFICITY</a:t>
            </a:r>
          </a:p>
          <a:p>
            <a:pPr>
              <a:defRPr sz="2800" b="1">
                <a:solidFill>
                  <a:srgbClr val="166534"/>
                </a:solidFill>
              </a:defRPr>
            </a:pPr>
            <a:r>
              <a:t>100.0%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50 / 50 Negative Controls Cleared (FP =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LENIENT PRECISION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93.3%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14 / 15 Triaged Signals True Toxicities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OVER-CAUTION RATE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2.0%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Only 1 / 50 Negatives in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THE CHRONIC PRR DENOMINATOR DILUTION PARADOX (DECISIONS.md §31)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The Empirical Observation: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While negative control rejection was flawless (100% specificity), Strict Recall on OMOP positives was 0.060 (3/50) and Lenient Recall was 0.280 (14/50). Why did known toxicities fail to escalate?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Root-Cause Mathematical Analysis: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Chronic blockbuster medications (e.g., Amlodipine, Sertraline, Citalopram, Nifedipine) are prescribed to tens of millions of patients over decades. Spontaneous reporting databases accumulate millions of background reports for these drugs.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Denominator Compression Below PRR 2.0 Gate: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Because PRR divides a drug's specific event rate by its total reporting volume, the massive denominator compresses the PRR into the 1.1–1.9 range—falling just below the static PRR ≥ 2.0 gate—despite thousands of absolute reports (n up to 4,610), statistically significant Woolf CIs (lower CI &gt; 1.0), and established biological plausibility.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Epidemiological Contribution: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This empirically proves that static magnitude cutoffs (PRR ≥ 2.0) fail on high-utilization chronic therapies, highlighting the need for exposure-adjusted Bayesian shrinkage gates in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13. FINDING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Top Prescribed Blockbuster Benchmark (50 Pairs &amp; Boxed Warnings)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14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66534"/>
                </a:solidFill>
              </a:defRPr>
            </a:pPr>
            <a:r>
              <a:t>LENIENT F1-SCORE</a:t>
            </a:r>
          </a:p>
          <a:p>
            <a:pPr>
              <a:defRPr sz="2800" b="1">
                <a:solidFill>
                  <a:srgbClr val="166534"/>
                </a:solidFill>
              </a:defRPr>
            </a:pPr>
            <a:r>
              <a:t>0.9388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Wilson 95% CI: [0.850 – 0.978]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BOXED WARNING RECALL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92.0%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23 / 25 FDA Boxed Warnings Captured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STRICT PRECISION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1.0000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10 / 10 Strict Escalations 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698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REAL-WORLD CLINICAL VALIDATION ON HIGH-MORTALITY BLACK BOX TOXICITIES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Everyday Outpatient Cohort Balance: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Evaluated 25 high-mortality FDA Boxed Warnings vs. 25 balanced negative controls across 7 blockbuster therapeutic classes (Statins, ACEi/ARBs, Antibiotics, Antidepressants, Opioids, Anticonvulsants, Anticoagulants).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Critical Toxicities Successfully Flagged: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Metformin lactic acidosis, Lisinopril angioedema, Clozapine agranulocytosis, Amiodarone pulmonary fibrosis, Ciprofloxacin tendon rupture, and Bupropion seizures all correctly triaged for active clinician surveillance.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Conservative Clinician Alert Discipline: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Out of 25 clean negative controls, 24 were completely cleared. Only a single benign diabetic pair (Glipizide lactic acidosis) entered MONITOR due to heavy diabetic polypharmacy confounding.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Offline Ollama Scalability: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100% evaluated offline via local Ollama (qwen2.5:7b) with persistent disk caching—proving production readiness with zero external API fees or token throttles.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14. RESULTS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Master Multi-Cohort Benchmark Performance Matrix (N = 165)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15 of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44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0584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Suite &amp;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Strict Prec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Strict 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Strict Spec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Strict 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Len Prec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Len Rec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Len Spec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Len 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PharmaGuard (Core Showcase, n=15)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0.8571 (6/7)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 (7/7)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Single-Shot LLM Baseline (n=15)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 (7/7)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0.9333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 (7/7)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0.6250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0.8235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PharmaGuard (Top Prescribed, n=50)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0.4000 (10/25)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0.9200 (23/25)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PharmaGuard (OMOP Expanded, n=100)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0.0600 (3/50)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0.9333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0.2800 (14/50)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0.9800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0.4308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10698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CORE BENCHMARK TAKEAWAYS ACROSS ALL 165 EVALUATED PAIRS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Flawless Strict Precision (1.0000): Zero false-positive high-priority escalations across all 165 pairs. The agent never issues an inappropriate regulatory alert on ungrounded controls.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High Boxed Warning Capture (92.0%): Captures 23 of 25 life-threatening Black Box Warnings in outpatient medications with 0.9388 Lenient F1.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</a:defRPr>
            </a:pPr>
            <a:r>
              <a:t>• Halving Clinician Alert Fatigue: Over-caution rate on negative controls cut to 4.0% on blockbusters and 2.0% on OMOP vs. 25.0% on single-shot baseline.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15.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Key Scientific Contributions &amp; Architectural Novelties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16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PILLAR 1: SCORING-INERT ARCHITECTURE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Anti-Overfitting Design Pattern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Decoupling Clinical Context: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Separates high-dimensional clinical context from fragile numerical confidence scoring.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Preserving Mathematical Truth: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Alerts human reviewers to indication overlap without distorting underlying PRR calculations or overfitting benchmark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66534"/>
                </a:solidFill>
              </a:defRPr>
            </a:pPr>
            <a:r>
              <a:t>PILLAR 2: PUBLIC-API DISEASE REASONING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Open-Data Causal Alternative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No Private Hospital Lock-In: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Proves standardized WHO ATC codes resolved via ChEMBL API can contextualize indication bias without restricted EHRs.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Global Reproducibility: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Democratizes advanced pharmacovigilance triage for safety boards globally without proprietary data licensing.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PILLAR 3: TWO-ROUND CITATION AUDITING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Eliminating Clinical AI Hallucinations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Independent PubMed Grounding: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Independently verified all 21 supporting clinical citations, correcting 13 historical publication errors.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Trial-Grounded Rules: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Replaced over-extended editorial commentary with verified domain trials (Lapi 2013, Hernández-Díaz 2000).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PILLAR 4: REPRODUCIBILITY &amp; DUAL-METRIC</a:t>
            </a:r>
          </a:p>
          <a:p>
            <a:pPr>
              <a:spcBef>
                <a:spcPts val="300"/>
              </a:spcBef>
              <a:defRPr sz="1150" b="1">
                <a:solidFill>
                  <a:srgbClr val="0F172A"/>
                </a:solidFill>
              </a:defRPr>
            </a:pPr>
            <a:r>
              <a:t>Rigorous Engineering &amp; Evaluation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242 Automated Tests: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Passing pytest test suite with frozen benchmark invariance proofs and persistent SHA-256 disk caching.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Dual-Metric Philosophy: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Distinguishes regulatory ESCALATE from surveillance MONITOR, accurately characterizing uncertainty.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16. 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Identified Project Limitations &amp; Semester 8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17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HONEST METHODOLOGICAL LIMITATIONS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Single-Curator Ground Truth (Core Benchmark):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The 15-pair golden set was curated by a primary investigator; expanding to multi-center inter-rater consensus panels is required for formal regulatory submission.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Heuristic Linear Priors (0.40 / 0.40 / 0.20):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Weights and escalation thresholds (0.70 / 0.35) reflect expert clinical priors rather than empirically optimized parameters.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Low Statistical Power on Holdout Discount (§37):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Only 4 of 40 held-out pairs triggered concordance; evaluating on N ≥ 100 concordant pairs is necessary to establish statistical power for continuous discounting.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Single Primary Indication Simplification: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WHO ATC codes classify primary labeled indications; off-label prescribing and multi-indication drugs (e.g., indomethacin for pain vs. patent ductus arteriosus) remain unmodeled.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SEMESTER 8 ROADMAP &amp; PUBLICATION TARGETS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Multi-Jurisdiction Pharmacovigilance Ingestion: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Ingest international spontaneous reporting databases beyond US FDA FAERS: European EudraVigilance, Japanese JADER, and WHO VigiBase.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Automated MedDRA Hierarchical Roll-Up: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Implement automated ontology expansion mapping Preferred Terms (PT) to High-Level Group Terms (HLGT) and System Organ Classes (SOC).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Exposure-Adjusted Bayesian Gating: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Develop Bayesian shrinkage gates conditioned on prescription volume to rescue chronic therapies from denominator dilution.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Conference Paper Submission: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Complete 9-section conference paper manuscript drafted (docs/paper/PharmaGuard_Conference_Paper.md), targeting IEEE BIBM / ACM CHIL / JAMIA venues.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17. 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Production Tech Stack &amp; Interactive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18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RUNTIME &amp; CORE AGENT STACK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Core Python Environment: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Python 3.13, Pandas, NumPy, Pydantic v2 data models.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Deterministic Orchestrator: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FixedPipelineAgent enforcing sequential multi-stream execution and hard safety gates.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LangGraph ReAct Alternative: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Autonomous tool-calling fallback for exploratory research.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DUAL INFERENCE BACKENDS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Local Ollama Backend (qwen2.5:7b):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100% offline, zero-cost, unmetered local inferencing with zero external token limits.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Cloud Google Gemini Alternative: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Gemini Flash Lite backend via LangGraph ReAct for rapid cloud prototyping.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Persistent DiskCache Layer: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Deterministic SHA-256 caching guarantees zero live network calls during evaluation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AUTOMATED TEST SUITE (242 TESTS)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Pytest Unit &amp; Regression Suite: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242 unit and integration tests passing in under 62 seconds.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Bytecode &amp; Schema Invariance: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Invariant assertion tests guarantee byte-identical outputs across repeated pipeline runs.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Continuous Integration Pipeline: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Automated GitHub Actions CI running compileall, ruff linting, and full test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</a:defRPr>
            </a:pPr>
            <a:r>
              <a:t>CLINICAL STREAMLIT DASHBOARD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Multi-Cohort Switcher: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Instant top-bar toggling between Core [15], Blockbusters [50], and OMOP [100].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Live Signal Triage Playground: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Searchable selectbox with 151 benchmark presets and arbitrary drug-event triage.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• Clinical Dossier Export: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One-click generation and download of regulatory Clinical Safety Briefings (.md &amp; .json).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18.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Independently Audited &amp; Verified Academic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PharmaGuard · Capstone Defense 2026–27 · Group 07 (IIIT Allahabad)                                              Slide 19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DISPROPORTIONALITY &amp; BENCHMARKING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Evans, S. J. W., et al. (2001)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Use of proportional reporting ratios (PRRs) for signal generation from spontaneous adverse drug reaction reports. Pharmacoepidemiol Drug Saf, 10(6), 483-486.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van Puijenbroek, E. P., et al. (2002)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 comparison of methods used for detecting adverse drug reactions in spontaneous reporting systems. Br J Clin Pharmacol, 54(4), 414-421.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Bate, A., &amp; Evans, S. J. W. (2009)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Quantitative signal detection using spontaneous ADR reporting. Pharmacoepidemiol Drug Saf, 18(6), 427-436.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Ryan, P. B., et al. (2013)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Defining a ground truth for pharmacovigilance signal detection: the OMOP labeled drug and adverse event test set. Drug Safety, 36(Suppl 1), S33-S47.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Coste, J., et al. (2023)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Methods for drug safety signal detection using observational electronic health care data: A systematic review. Pharmacoepidemiol Drug Saf, 32(1), 28-43.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66534"/>
                </a:solidFill>
              </a:defRPr>
            </a:pPr>
            <a:r>
              <a:t>EPIDEMIOLOGY, LLMS &amp; CAUSAL GRAPHS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Omar, M., et al. (2025)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Multi-model assurance analysis showing large language models are highly vulnerable to adversarial hallucination attacks. Communications Medicine, 5(1), 330.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Toonsi, S., et al. (2026)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Causal knowledge graph analysis identifies adverse drug effects. Bioinformatics, 42(1), btaf661.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Walker, A. M. (1996)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Confounding by indication. Epidemiology, 7(4), 335-336.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Psaty, B. M., et al. (1999)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Channeling bias in observational studies of cardiovascular medications. J Am Geriatr Soc, 47(6), 749-754.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Schneeweiss, S., &amp; Avorn, J. (2005)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 review of uses of health care utilization databases for epidemiologic research on therapeutics. J Clin Epidemiol, 58(4), 323-337.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3840480" cy="347472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FDBFE"/>
                </a:solidFill>
                <a:latin typeface="Arial"/>
              </a:defRPr>
            </a:pPr>
            <a:r>
              <a:t>DEFENSE CONCLUSION &amp; COMMITTEE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Summary of Capstone Achievements &amp; Floor Open for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58368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FOUR VERIFIED CAPSTONE ACHIEVEMENTS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Arial"/>
              </a:defRPr>
            </a:pPr>
            <a:r>
              <a:t>• 1. Evidence-Grounded Triage Funnel: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   Replaced hallucinated LLM self-reporting with deterministic tri-source evidence fusion (FAERS, ChEMBL, PubMed) and hard empirical safety gating.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Arial"/>
              </a:defRPr>
            </a:pPr>
            <a:r>
              <a:t>• 2. Flawless Conservatism (100% Strict Precision):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   Zero false alarms across all 165 benchmark pairs, cutting alert fatigue to 2.0% on OMOP and 4.0% on blockbusters.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Arial"/>
              </a:defRPr>
            </a:pPr>
            <a:r>
              <a:t>• 3. Public Disease-Context Reasoning: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   Resolved WHO ATC indication concordance via ChEMBL API, providing an accessible public alternative to restricted hospital EHR models.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Arial"/>
              </a:defRPr>
            </a:pPr>
            <a:r>
              <a:t>• 4. Reproducibility &amp; Publication Readiness: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   242 passing pytest tests, full conference paper draft, and a live Streamlit evaluation dashboard with instant clinical dossier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2286000"/>
            <a:ext cx="3547872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ACKNOWLEDGMENTS &amp; REPOSITORY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Dr. Nikhilanand Arya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Assistant Professor</a:t>
            </a:r>
            <a:br/>
            <a:r>
              <a:t>Department of Information Technology</a:t>
            </a:r>
            <a:br/>
            <a:r>
              <a:t>IIIT Allahabad</a:t>
            </a:r>
            <a:br/>
            <a:r>
              <a:t>Supervisor &amp; Evaluator</a:t>
            </a:r>
          </a:p>
          <a:p>
            <a:pPr>
              <a:spcBef>
                <a:spcPts val="14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OPEN REPOSITORY</a:t>
            </a:r>
          </a:p>
          <a:p>
            <a:pPr>
              <a:defRPr sz="1050" b="1">
                <a:solidFill>
                  <a:srgbClr val="BFDBFE"/>
                </a:solidFill>
                <a:latin typeface="Arial"/>
              </a:defRPr>
            </a:pPr>
            <a:r>
              <a:t>github.com/Krishna200608/PharmaGuard</a:t>
            </a:r>
          </a:p>
          <a:p>
            <a:pPr>
              <a:spcBef>
                <a:spcPts val="1400"/>
              </a:spcBef>
              <a:defRPr sz="1100" b="1">
                <a:solidFill>
                  <a:srgbClr val="34D399"/>
                </a:solidFill>
                <a:latin typeface="Arial"/>
              </a:defRPr>
            </a:pPr>
            <a:r>
              <a:t>Thank you! Floor is open for questions and committee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